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Per-class F1 (hold-out · 97,521 comments)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Positive</c:v>
                  </c:pt>
                  <c:pt idx="1">
                    <c:v>Neutral</c:v>
                  </c:pt>
                  <c:pt idx="2">
                    <c:v>Negative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</c:v>
                </c:pt>
                <c:pt idx="1">
                  <c:v>0.45</c:v>
                </c:pt>
                <c:pt idx="2">
                  <c:v>0.21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Cross-validated R² — all targets ≤ 0 (1,493 posts)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R²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039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Mean Sentiment</c:v>
                  </c:pt>
                  <c:pt idx="1">
                    <c:v>Controversy</c:v>
                  </c:pt>
                  <c:pt idx="2">
                    <c:v>Total Interactions</c:v>
                  </c:pt>
                  <c:pt idx="3">
                    <c:v>Reach (log)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-0.034</c:v>
                </c:pt>
                <c:pt idx="1">
                  <c:v>-0.054</c:v>
                </c:pt>
                <c:pt idx="2">
                  <c:v>-0.084</c:v>
                </c:pt>
                <c:pt idx="3">
                  <c:v>-1.112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039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Positive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EMOJI_REACTOR</c:v>
                  </c:pt>
                  <c:pt idx="1">
                    <c:v>COMPLIMENTER</c:v>
                  </c:pt>
                  <c:pt idx="2">
                    <c:v>SUPERFAN</c:v>
                  </c:pt>
                  <c:pt idx="3">
                    <c:v>STORYTELLER</c:v>
                  </c:pt>
                  <c:pt idx="4">
                    <c:v>ADVISOR</c:v>
                  </c:pt>
                  <c:pt idx="5">
                    <c:v>TAGGER</c:v>
                  </c:pt>
                  <c:pt idx="6">
                    <c:v>INQUIRER</c:v>
                  </c:pt>
                  <c:pt idx="7">
                    <c:v>CRITIC</c:v>
                  </c:pt>
                  <c:pt idx="8">
                    <c:v>SPAMMER</c:v>
                  </c:pt>
                  <c:pt idx="9">
                    <c:v>HATER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95.3</c:v>
                </c:pt>
                <c:pt idx="1">
                  <c:v>94.1</c:v>
                </c:pt>
                <c:pt idx="2">
                  <c:v>89.9</c:v>
                </c:pt>
                <c:pt idx="3">
                  <c:v>74</c:v>
                </c:pt>
                <c:pt idx="4">
                  <c:v>70.1</c:v>
                </c:pt>
                <c:pt idx="5">
                  <c:v>71.7</c:v>
                </c:pt>
                <c:pt idx="6">
                  <c:v>61.5</c:v>
                </c:pt>
                <c:pt idx="7">
                  <c:v>52.9</c:v>
                </c:pt>
                <c:pt idx="8">
                  <c:v>24.1</c:v>
                </c:pt>
                <c:pt idx="9">
                  <c:v>31.8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Neutral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EMOJI_REACTOR</c:v>
                  </c:pt>
                  <c:pt idx="1">
                    <c:v>COMPLIMENTER</c:v>
                  </c:pt>
                  <c:pt idx="2">
                    <c:v>SUPERFAN</c:v>
                  </c:pt>
                  <c:pt idx="3">
                    <c:v>STORYTELLER</c:v>
                  </c:pt>
                  <c:pt idx="4">
                    <c:v>ADVISOR</c:v>
                  </c:pt>
                  <c:pt idx="5">
                    <c:v>TAGGER</c:v>
                  </c:pt>
                  <c:pt idx="6">
                    <c:v>INQUIRER</c:v>
                  </c:pt>
                  <c:pt idx="7">
                    <c:v>CRITIC</c:v>
                  </c:pt>
                  <c:pt idx="8">
                    <c:v>SPAMMER</c:v>
                  </c:pt>
                  <c:pt idx="9">
                    <c:v>HATER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</c:v>
                </c:pt>
                <c:pt idx="1">
                  <c:v>4.6</c:v>
                </c:pt>
                <c:pt idx="2">
                  <c:v>6.7</c:v>
                </c:pt>
                <c:pt idx="3">
                  <c:v>15.2</c:v>
                </c:pt>
                <c:pt idx="4">
                  <c:v>24</c:v>
                </c:pt>
                <c:pt idx="5">
                  <c:v>24.3</c:v>
                </c:pt>
                <c:pt idx="6">
                  <c:v>32.9</c:v>
                </c:pt>
                <c:pt idx="7">
                  <c:v>24.7</c:v>
                </c:pt>
                <c:pt idx="8">
                  <c:v>74.1</c:v>
                </c:pt>
                <c:pt idx="9">
                  <c:v>16.2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% Negative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EMOJI_REACTOR</c:v>
                  </c:pt>
                  <c:pt idx="1">
                    <c:v>COMPLIMENTER</c:v>
                  </c:pt>
                  <c:pt idx="2">
                    <c:v>SUPERFAN</c:v>
                  </c:pt>
                  <c:pt idx="3">
                    <c:v>STORYTELLER</c:v>
                  </c:pt>
                  <c:pt idx="4">
                    <c:v>ADVISOR</c:v>
                  </c:pt>
                  <c:pt idx="5">
                    <c:v>TAGGER</c:v>
                  </c:pt>
                  <c:pt idx="6">
                    <c:v>INQUIRER</c:v>
                  </c:pt>
                  <c:pt idx="7">
                    <c:v>CRITIC</c:v>
                  </c:pt>
                  <c:pt idx="8">
                    <c:v>SPAMMER</c:v>
                  </c:pt>
                  <c:pt idx="9">
                    <c:v>HATER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1.6</c:v>
                </c:pt>
                <c:pt idx="1">
                  <c:v>1.4</c:v>
                </c:pt>
                <c:pt idx="2">
                  <c:v>3.4</c:v>
                </c:pt>
                <c:pt idx="3">
                  <c:v>10.8</c:v>
                </c:pt>
                <c:pt idx="4">
                  <c:v>5.9</c:v>
                </c:pt>
                <c:pt idx="5">
                  <c:v>4</c:v>
                </c:pt>
                <c:pt idx="6">
                  <c:v>5.6</c:v>
                </c:pt>
                <c:pt idx="7">
                  <c:v>22.4</c:v>
                </c:pt>
                <c:pt idx="8">
                  <c:v>1.9</c:v>
                </c:pt>
                <c:pt idx="9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0D7A7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 ANALYTICS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Findings &amp; Executive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3474720" cy="4572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423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487K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labeled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423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profiled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423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8412480" cy="45720"/>
          </a:xfrm>
          <a:prstGeom prst="rect">
            <a:avLst/>
          </a:prstGeom>
          <a:solidFill>
            <a:srgbClr val="0D7A7A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Showreel Social Media Analytics  ·  June 2026  ·  Modeling: Sonnet  |  Strategy: Opus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Instagram only  ·  4 Python tasks  +  3 R Beta-Binomial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what doesn't, and what to do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Sentiment Classifier  DEPLOYABLE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0.47 (+44% vs baseline). Predicts sentiment from comment structure alone — no LLM calls. Fast, interpretable. Ready for production.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Persona × Sentiment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70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= 14,140, p &lt; 1e-300. Personas span a clear sentiment spectrum: HATER (−0.23 mean) to EMOJI_REACTOR (+0.63). Actionable for audience segmentation.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Mickey Model C — C1→C3 Transitions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76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 model. Theatre content, creator mentions, podcast audio, and Q2/Q4 timing drive progression. Convergent posteriors, interpretable.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0233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DOESN'T (YET)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Persona Classifier  Research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764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0.36, balanced accuracy 0.46. 4.6× random but rare classes (HATER F1=0.12, SPAMMER F1=0.14) are unreliable. Do not use for routing.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Post Engagement  Negative R²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regression targets at or below zero. Format, music, and hashtags cannot predict reach. Audience size and timing dominate.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Mickey Model B — C1 Exit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776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Rare-event fragility. Churn is uncommon; estimates swing with outliers. One post shows extreme anomalous churn. Treat as exploratory.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709160"/>
            <a:ext cx="8503920" cy="274320"/>
          </a:xfrm>
          <a:prstGeom prst="rect">
            <a:avLst/>
          </a:prstGeom>
          <a:solidFill>
            <a:srgbClr val="B2E4E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183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sentiment is 81% positive — all metrics use macro-F1, not accuracy. Sample biased toward media-rich posts. LLM labels are not ground truth.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source files · three modeling tables · Instagram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560320" cy="105156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05156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20700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487,604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" y="1749247"/>
            <a:ext cx="23774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(comments_model.parquet)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features · comment grain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560320" cy="105156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97280"/>
            <a:ext cx="64008" cy="105156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20700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40,019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64408" y="1749247"/>
            <a:ext cx="23774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(users_model.parquet)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 · user grain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51760" cy="105156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97280"/>
            <a:ext cx="64008" cy="105156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48" y="1207008"/>
            <a:ext cx="24688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1,493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99048" y="1749247"/>
            <a:ext cx="24688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(posts_model.parquet)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features · post grain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LABEL PIPELINE (Vertex Batch — upstream of modeling)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724912"/>
            <a:ext cx="54864" cy="32004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724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sentiment_cat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7249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 (3-class)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27832"/>
            <a:ext cx="54864" cy="32004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227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8-way Plutchik wheel (joy, anger, trust…)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30752"/>
            <a:ext cx="54864" cy="32004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/ joke / spam / criticism / 10 classes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724912"/>
            <a:ext cx="54864" cy="32004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2724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persona_codename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7249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archetypes (EMOJI_REACTOR, HATER…)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227832"/>
            <a:ext cx="54864" cy="32004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227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scale 0-4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730752"/>
            <a:ext cx="54864" cy="32004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/ sarcasm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/ binary LLM outputs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B2E4E2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caveat: </a:t>
            </a:r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labels are LLM outputs (not ground truth). Tasks 1 &amp; 2 ask 'can structure/behaviour recover what the LLM decided?' -- not 'can it recover true sentiment/persona.' Sentiment is 81% positive: always use macro-F1.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737360" cy="2560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RESEARCH ONLY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Classification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2024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914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1155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0.462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(4.6× random)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2024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05840"/>
            <a:ext cx="64008" cy="914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11155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0.364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32888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(baseline: 0.10)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1005840"/>
            <a:ext cx="192024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005840"/>
            <a:ext cx="64008" cy="914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11155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0.490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36008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Weighted-F1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219456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1005840"/>
            <a:ext cx="64008" cy="9144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0" name="Text 18"/>
          <p:cNvSpPr/>
          <p:nvPr/>
        </p:nvSpPr>
        <p:spPr>
          <a:xfrm>
            <a:off x="6739128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39,256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39128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Per-class F1 (hold-out)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59152"/>
          <a:ext cx="4023360" cy="246888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EMOJI_REACTOR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COMPLIMENTER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STORYTELLER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61772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Features (mean impurity decrease)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17720" y="2395728"/>
            <a:ext cx="2377440" cy="2560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mean_word_count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17720" y="2761488"/>
            <a:ext cx="1920240" cy="256032"/>
          </a:xfrm>
          <a:prstGeom prst="rect">
            <a:avLst/>
          </a:prstGeom>
          <a:solidFill>
            <a:srgbClr val="2980B9">
              <a:alpha val="8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66344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mean_sentiment_score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17720" y="3127248"/>
            <a:ext cx="1645920" cy="256032"/>
          </a:xfrm>
          <a:prstGeom prst="rect">
            <a:avLst/>
          </a:prstGeom>
          <a:solidFill>
            <a:srgbClr val="2980B9">
              <a:alpha val="7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3127248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pct_positive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17720" y="3493008"/>
            <a:ext cx="1280160" cy="256032"/>
          </a:xfrm>
          <a:prstGeom prst="rect">
            <a:avLst/>
          </a:prstGeom>
          <a:solidFill>
            <a:srgbClr val="2980B9">
              <a:alpha val="6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663440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pct_neutral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17720" y="3858768"/>
            <a:ext cx="1005840" cy="256032"/>
          </a:xfrm>
          <a:prstGeom prst="rect">
            <a:avLst/>
          </a:prstGeom>
          <a:solidFill>
            <a:srgbClr val="2980B9">
              <a:alpha val="52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663440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activity_span_days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1772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617720" y="4526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and HOW POSITIVELY users write are the dominant axes. EMOJI_REACTOR and SUPERFAN are behaviorally distinct. HATER &amp; SPAMMER: high recall but low precision — balanced weighting over-flags rare classes. Do not use for production routing.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73736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DEPLOYABLE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from Comment 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926080" cy="13716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+44%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0.33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1828800" cy="64008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64008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115568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0.476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84448" y="1402690"/>
            <a:ext cx="164592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(CV)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005840"/>
            <a:ext cx="1828800" cy="64008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1005840"/>
            <a:ext cx="64008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641848" y="1115568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41848" y="1402690"/>
            <a:ext cx="164592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005840"/>
            <a:ext cx="1417320" cy="64008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06640" y="1005840"/>
            <a:ext cx="64008" cy="64008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19" name="Text 17"/>
          <p:cNvSpPr/>
          <p:nvPr/>
        </p:nvSpPr>
        <p:spPr>
          <a:xfrm>
            <a:off x="7516368" y="1115568"/>
            <a:ext cx="12344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LLM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516368" y="1402690"/>
            <a:ext cx="123444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Vertex call needed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474720" y="1783080"/>
          <a:ext cx="5303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32004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structural signals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 &amp; text_length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0040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emoji_count &amp; variety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004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emoji_per_word_ratio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0040" y="3785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mention_count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question_count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B2E4E2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sentiment lives in HOW people write, not WHAT. Short comments skew positive; longer, emoji-rich, question-heavy comments signal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73736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DATA FINDING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Engagement Regression — Format Doesn't Predict Reach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0058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005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Coefficient Directions (plausible but not predictive)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1371600"/>
            <a:ext cx="54864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568756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5236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 reach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1792224"/>
            <a:ext cx="5486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568756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image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52360" y="1792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−0.52 reach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212848"/>
            <a:ext cx="54864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5687568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music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5236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interactions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633472"/>
            <a:ext cx="5486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5687568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music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5236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 reach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3054096"/>
            <a:ext cx="5486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5687568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posts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52360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−0.16 interactions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3474720"/>
            <a:ext cx="5486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5687568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partnership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523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controversy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77840" y="3886200"/>
            <a:ext cx="3246120" cy="914400"/>
          </a:xfrm>
          <a:prstGeom prst="rect">
            <a:avLst/>
          </a:prstGeom>
          <a:solidFill>
            <a:srgbClr val="EBF5F5"/>
          </a:solidFill>
          <a:ln/>
        </p:spPr>
      </p:sp>
      <p:sp>
        <p:nvSpPr>
          <p:cNvPr id="27" name="Text 24"/>
          <p:cNvSpPr/>
          <p:nvPr/>
        </p:nvSpPr>
        <p:spPr>
          <a:xfrm>
            <a:off x="5623560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 — not format's fault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23560" y="422452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N=1,493 too small for 20+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Audience size &amp; timing dominate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Creator reputation overrides format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0040" y="4114800"/>
            <a:ext cx="5029200" cy="822960"/>
          </a:xfrm>
          <a:prstGeom prst="rect">
            <a:avLst/>
          </a:prstGeom>
          <a:solidFill>
            <a:srgbClr val="B2E4E2"/>
          </a:solidFill>
          <a:ln/>
        </p:spPr>
      </p:sp>
      <p:sp>
        <p:nvSpPr>
          <p:cNvPr id="30" name="Text 27"/>
          <p:cNvSpPr/>
          <p:nvPr/>
        </p:nvSpPr>
        <p:spPr>
          <a:xfrm>
            <a:off x="411480" y="4160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a DATA FINDING, not a model failure.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11480" y="440740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production metadata simply do not determine engagement at scale. The algorithm, creator reputation, and audience timing dominate. More data (time-series, fixed effects) needed for reliable regression.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9728"/>
            <a:ext cx="1737360" cy="256032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DESCRIPTIVE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× Sentiment — A Clear Audience Spectrum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91440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14,140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(dof 18)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1e-300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64008" cy="91440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15,792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1e-300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005840"/>
            <a:ext cx="2560320" cy="914400"/>
          </a:xfrm>
          <a:prstGeom prst="rect">
            <a:avLst/>
          </a:prstGeom>
          <a:solidFill>
            <a:srgbClr val="F4F8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005840"/>
            <a:ext cx="64008" cy="9144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94,397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73368" y="1572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with both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&amp; sentiment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057400"/>
          <a:ext cx="8503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B2E4E2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7274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Content-form: HATER concentrates on Reels (73% — highest-reach format draws adversarial commenters). SPAMMER on images (53%). TAGGER over-indexes on legacy feed posts.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MICKEY'S R MODELS — Beta-Binomial Lifecycle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user segment · post-level proportions · Bayesian regression (brms)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73152" cy="111556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1170432"/>
            <a:ext cx="1143000" cy="2743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170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1521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 — C1 Pre-Share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seasonal effects. Italy-centric content, Q1/Q2, longer videos, and creator mentions drive higher C1 pre-share engagement. Slight underdispersion.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 Location, year trend, season, duration, mentions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340864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40864"/>
            <a:ext cx="73152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2432304"/>
            <a:ext cx="114300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24323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140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B — C1 Exit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7249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Rare-event model. Creator-mention posts reduce churn. Moderate captions (50–150 words) retain C1 best. Q1 highest churn, Q4 lowest. One extreme outlier post.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095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 mentions_creator, caption_length, season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02736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02736"/>
            <a:ext cx="73152" cy="11155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3694176"/>
            <a:ext cx="114300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3694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758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 — C1→C3 Transition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867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posteriors. Q2 &amp; Q4, short sentences (readability), theatre content, creator mentions, and podcast audio drive progression to higher engagement tier.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714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 season, readability, topic_Theatre, audio_type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solidFill>
            <a:srgbClr val="B2E4E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554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converge (Rhat &lt; 1.01). Observational data — coefficients are associations, not causal effects. Plots live in Mickey/modelling/.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7-MODEL SCORECARD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headline metric, sample, and production status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8862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2468880"/>
                <a:gridCol w="1234440"/>
                <a:gridCol w="1051560"/>
              </a:tblGrid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Persona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 0.36 · Bal-Acc 0.46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40K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Sentiment Structural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 0.47 · +44% 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487K 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Post 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≤ 0 all 4 targets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1,493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Persona ×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Chi² 14,140 · p &lt; 1e-300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94K 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Model A — C1 Pre-share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Beta-Binomial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· Rhat &lt; 1.01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Model B — C1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Beta-Binomial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· rare-event fragile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Model C — C1→C3 Transit.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Beta-Binomial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· best R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3657600" cy="45720"/>
          </a:xfrm>
          <a:prstGeom prst="rect">
            <a:avLst/>
          </a:prstGeom>
          <a:solidFill>
            <a:srgbClr val="0D7A7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15087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Task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task2_sentiment_clf.joblib into production comment pipeline. No Vertex call. Flag long emoji-heavy comments as likely positive; sparse comments as critical.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023360" cy="15087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0328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Mickey R Plots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7556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final models in ggsave() → save PNGs to Mickey/modelling/outputs/. Embed in Canva report pages 3–6.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15087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 Segmentation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Task 4 persona×sentiment spectrum for live audience profiling. HATER/CRITIC alert on reels; SUPERFAN/COMPLIMENTER engagement on carousels.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023360" cy="15087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032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Task 3 with Fixed Effects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creator follower count, engagement rate history, and post-time relative to audience activity. N=1,493 needs time-series or cross-platform data.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Ali/outputs/modeling/  ·  Full report: MODELING_REPORT.md  ·  Canva: DAHMkh1hUJY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Analytics — Model Findings &amp; Executive Summary</dc:title>
  <dc:subject>PptxGenJS Presentation</dc:subject>
  <dc:creator>Showreel Analytics Lab</dc:creator>
  <cp:lastModifiedBy>Showreel Analytics Lab</cp:lastModifiedBy>
  <cp:revision>1</cp:revision>
  <dcterms:created xsi:type="dcterms:W3CDTF">2026-06-14T20:58:58Z</dcterms:created>
  <dcterms:modified xsi:type="dcterms:W3CDTF">2026-06-14T20:58:58Z</dcterms:modified>
</cp:coreProperties>
</file>
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 MODELING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76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Reference  ·  Formulas, Parameters &amp; KPIs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63347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2834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3136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487,604  (sentiment-labeled)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34381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40,019   (persona-labeled)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3739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1,493    (post metadata)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4041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Python tasks  +  3 R Beta-Binomial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4343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9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Showreel Social Media Analytics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Classification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10 classes  ·  user-level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15968" y="1737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15968" y="2011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15968" y="22860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560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15968" y="25603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'balanced'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15968" y="2834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15968" y="3108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StratifiedKFold(n_splits=5)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(17)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54787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total_comments, activity_span_days, mean_hours_to_comment, pct_comments_under_1h, reply_ratio, mean_word_count, mean_sentiment_score, std_sentiment_score, sarcasm_rate, mean_toxicity, mean_intensity, pct_positive, pct_negative, pct_neutral, n_comments_in_B, n_distinct_posts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169664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93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4279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balanced_accuracy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07408" y="42793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0.10 — 4.6x random)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0" y="45217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macro_f1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07408" y="45217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45217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0.10)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0" y="4764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weighted_f1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07408" y="47640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50063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EMOJI_REACTOR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07408" y="50063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50063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class · n=1,132)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11680" y="5248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SUPERFAN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07408" y="5248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5248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(n=837)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011680" y="54909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HATER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07408" y="54909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4920" y="54909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(rare · n=29 · high recall, low precision)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011680" y="57332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SPAMMER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07408" y="5733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74920" y="5733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(rare · n=43)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DEPLOYABLE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from Comment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3 classes  ·  comment-level  ·  strict leakage guard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98848" y="17373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9933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98848" y="1993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494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98848" y="22494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5054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5054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'balanced'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761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98848" y="27614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0175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StratifiedKFold(n_splits=5)  [on 150k subsample]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32735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final_fit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98848" y="32735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full 487,604  (80/20 stratified split)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(42)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11680" y="36576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text_length, word_count, emoji_count, unique_emoji_count, emoji_entropy,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emoji_variety_ratio, emoji_per_word_ratio, url_count, mention_count, hashtag_count,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exclamation_count, question_count, avg_word_length, has_numbers, has_links,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n_hashtags, is_paid_partnership, comment_hour, comment_dow, post_hour, post_dow,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content_form (one-hot), media_type (one-hot), persona_codename (one-hot)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446227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(same LLM pass as target — leakage):  sentiment_score, emotion, intent, target, intensity, sarcasm, toxicity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macro_f1                 0.476  +44% over 0.33 baseline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balanced_accuracy        0.600 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positive             0.76  (n=78,855)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neutral              0.45  (n=13,748)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negative             0.21  (n=4,918)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KPIs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Classifier — Performance Detail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hold-out: 97,521 comments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201168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mean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std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Hold-out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balanced_accuracy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macro_f1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0.476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0.473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weighted_f1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0.693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 positive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 neutral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 negative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30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0" y="3785616"/>
            <a:ext cx="1722730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011680" y="3730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 word_count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26280" y="3730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11680" y="4041648"/>
            <a:ext cx="1514246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3986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 text_length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26280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0.138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0" y="4297680"/>
            <a:ext cx="1086307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011680" y="4242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 unique_emoji_count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2628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0.099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011680" y="4553712"/>
            <a:ext cx="1075334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011680" y="4498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 emoji_count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26280" y="4498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0.098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011680" y="4809744"/>
            <a:ext cx="1042416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01168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 emoji_variety_ratio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26280" y="4754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20" y="3785616"/>
            <a:ext cx="987552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532120" y="3730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6.  emoji_per_word_ratio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46720" y="3730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32120" y="4041648"/>
            <a:ext cx="735178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532120" y="3986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7.  avg_word_length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46720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0.067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32120" y="4297680"/>
            <a:ext cx="702259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5532120" y="4242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8.  mention_count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4672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0.064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532120" y="4553712"/>
            <a:ext cx="416966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532120" y="4498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9.  question_count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46720" y="4498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0.038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32120" y="4809744"/>
            <a:ext cx="285293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53212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 exclamation_count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046720" y="4754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NEGATIVE RESULT — DATA 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Engagement Regression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 ·  1,493 posts  ·  format alone does not predict reach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RidgeCV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58768" y="17190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[0.01, 0.1, 1, 10, 100, 1000]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975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58768" y="19751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5-fold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31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58768" y="22311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log1p-transformed  (total_interactions, reach)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487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58768" y="24871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1,493 posts  ·  22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626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(22)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11680" y="296265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n_hashtags, is_paid_partnership, like_count, views, total_interactions, reach,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media_type (one-hot), content_form (one-hot), music_source (one-hot), audio_type (one-hot),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post_hour, post_dow, post_month, video_duration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 (CV R²)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794760"/>
          <a:ext cx="6583680" cy="118872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097280"/>
                <a:gridCol w="1097280"/>
                <a:gridCol w="5486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R² mean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R² std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 alpha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mean_sentiment_score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signal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controversy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-0.054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signal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total_interactions(log)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-0.084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signal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reach (log)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-1.112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1.098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strong fail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718304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Notable coefficients (reach):  reels +0.262  |  static_image -0.515  |  no_music -0.201  |  paid_partnership -0.193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DESCRIPTIVE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× Sentiment Cross-Tabulation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independence test  ·  94,397 comments with both labels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93008" y="144475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chi2_contingency  (scipy.stats)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7007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93008" y="17007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chi2 = sum((O - E)^2 / 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kw_test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93008" y="19568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kruskal  (scipy.stats)  on continuous sentiment_score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93008" y="22128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94,397 comments  ·  10 personas x 3 sentiment classes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615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2615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14,140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= 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862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p_value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2862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1e-300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862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x sentiment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3108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(KW)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3108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15,792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1089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= 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55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p_value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01568" y="3355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1e-300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3558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on sentiment_score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3931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SPECTRUM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749040"/>
          <a:ext cx="6675120" cy="1234440"/>
        </p:xfrm>
        <a:graphic>
          <a:graphicData uri="http://schemas.openxmlformats.org/drawingml/2006/table">
            <a:tbl>
              <a:tblPr/>
              <a:tblGrid>
                <a:gridCol w="1737360"/>
                <a:gridCol w="1143000"/>
                <a:gridCol w="1143000"/>
                <a:gridCol w="1143000"/>
                <a:gridCol w="1508760"/>
              </a:tblGrid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 score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 positive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 negative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EMOJI_REACTOR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+0.633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n=9,657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CASUAL_COMPLI.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+0.694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n=10,895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SUPERFAN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+0.641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n=31,920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STORYTELLER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+0.426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11%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n=9,819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TAGGER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+0.421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n=19,357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ADVISOR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+0.428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n=1,740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INQUIRER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+0.372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n=5,300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CRITIC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+0.203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22%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n=4,988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SPAMMER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+0.136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74% neut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n=324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HATER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-0.232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52%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n=173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MICKEY R MODELS  ·  A / B / 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Beta-Binomial Regression — Formulas &amp; Parameters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 ·  brms  ·  C1 user segment  ·  post-level proportions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y_i | n_i  ~  BetaBinomial(n_i, mu_i, phi)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logit(mu_i) = b0 + b1*x1_i + ... + bk*xk_i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20299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y_i = users in state  ·  n_i = eligible users  ·  mu_i = probability  ·  phi = precision (overdispersion)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C1 Pre-Share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2697480" cy="877824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724912"/>
            <a:ext cx="2551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logit(mu) = b0 + b_loc + b_yr*year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b_yt*topic_YT + b_seas*season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b_dur*video_dur + b_men*mentions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location_name (top 5)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0965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year (trend)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topic_YouTube (binary)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season (Q1–Q4)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70001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video_duration (min)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9011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mentions_creators (count)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51572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 Rhat &lt; 1.01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376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underdispersion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C1 Exit Rate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64992" y="2688336"/>
            <a:ext cx="2697480" cy="877824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2724912"/>
            <a:ext cx="2551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logit(mu) = b0 + b_men*mentions_alice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b_cap*caption_length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b_seas*season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64992" y="36941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64992" y="38953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mentions_alice (binary)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64992" y="40965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caption_length (words)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64992" y="42976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season (Q1–Q4)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4992" y="4553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 Rhat &lt; 1.01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4992" y="47731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 · outlier post ID 18074117857510337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72784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— C1-&gt;C3 Transition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72784" y="2688336"/>
            <a:ext cx="2697480" cy="1389888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2724912"/>
            <a:ext cx="2551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logit(mu) = b0 + b_seas*season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b_wps*avg_words_per_sent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b_th*topic_Theatre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b_men*mentions_alice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b_aud*audio_type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4206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72784" y="44074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season (Q1–Q4)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72784" y="46085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avg_words_per_sentence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72784" y="48097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topic_Theatre (binary)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72784" y="50109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mentions_alice (binary)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72784" y="52120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audio_type (music/podcast/none)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72784" y="54681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 Rhat &lt; 1.01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72784" y="56875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cleanest posteriors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7-Model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· headline formula · key metric · status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329184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508760"/>
                <a:gridCol w="2240280"/>
                <a:gridCol w="105156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Algorithm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Headline metric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T1 Persona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RandomForest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persona_codename (10)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macro_f1 = 0.364  bal_acc = 0.462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40K users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T2 Sentiment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RandomForest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sentiment_cat (3)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macro_f1 = 0.476  +44% lift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487K comments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DEPLOYABLE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T3 Engagement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RidgeCV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interactions / reach (log)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 &lt;= 0  all targets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1,493 posts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 not deploy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T4 Persona x Snt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Chi-squared / KW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cross-tab (descriptive)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chi2 = 14,140  p &lt; 1e-300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94K comments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Profiling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R-A  C1 Pre-share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BetaBinomial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P(C1 engages pre-share)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  Rhat &lt; 1.01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Post-level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R-B  C1 Exit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BetaBinomial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P(C1 churns)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  rare-event fragile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Post-level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Exploratory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R-C  C1-&gt;C3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BetaBinomial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P(C1 -&gt; C3 tier)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  best posteriors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Post-level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Ali/outputs/modeling/  ·  Mickey/modelling/model_C1_*.R  ·  Report: MODELING_REPORT.md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SARIMAX Counterfactual: Model Specification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  ~  SARIMAX(p, d, q) x (P, D, Q, s=7)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log1p(comment_volume_t) — heteroscedasticity control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 orders per event (grid search, min AIC):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(0,1,2)x(1,0,1,7)   — most common  [AIC range 607–1327]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(1,1,2)x(1,0,1,7)   — second most common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(2,1,2)x(1,0,1,7)   — occasional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1828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IG comment volume, 2016-08-18 to 2026-03-20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4087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3,480   (median=42, max=6,633)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71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44714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d  or  365 d  (pre-event training)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55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window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4855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d / 14 d / 28 d  (neighbourhood)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5239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prediction interval from pre-event SARIMAX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5623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dates  (9 announcements + 12 occurrences)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Ali/outputs/virality/virality_results.csv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ITS Level-Jump Test (BH-FDR corrected)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Time Series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 = b0 + b1*t + b2*D_t + b3*(t - T_int)*D_t + e_t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= level jump at intervention date T_int;  BH-FDR q &lt; 0.05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1828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level jumps (9 of 21 tested)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(log)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7589520" cy="32004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MIA Cucina Rai2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+1.156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90672"/>
            <a:ext cx="7589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TEDxRimini 2019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3127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-1.838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7589520" cy="32004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65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Pre-Order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3465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34655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+1.246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34655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67328"/>
            <a:ext cx="7589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03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Tour Launch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38039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-1.325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38039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05656"/>
            <a:ext cx="7589520" cy="32004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Tour Launch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4142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+1.069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4142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43984"/>
            <a:ext cx="7589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Etna Comics 2025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-0.960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782312"/>
            <a:ext cx="7589520" cy="32004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Etna Comics 2025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0" y="4818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4818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-0.960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944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120640"/>
            <a:ext cx="7589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157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Radio2 Broadcast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0" y="5157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77840" y="5157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0" y="51572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5458968"/>
            <a:ext cx="7589520" cy="32004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495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Tour Re-ignition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0" y="5495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77840" y="5495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+2.815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49440" y="5495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6126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 seasonal-naive residuals; BH-FDR alpha=0.05; 12 interventions non-significant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Announcement vs Occurrence: Wilcoxon Test &amp; Findings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Signed-Rank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H0: announcement burst == occurrence burst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tested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709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separable (gap &gt; 14 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93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Inseparable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093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pairs (gap &lt; 14 d) — excluded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780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478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2.000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2862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0.7500 (two-sided)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to reject H0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828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No systematic advantage for announcement dates vs event dates (p=0.75).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9 / 21 interventions show significant ITS level jumps (BH-FDR q &lt; 0.05).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Autumn Tour Re-ignition: largest positive jump (+2.81 log units).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Solo Tour &amp; TEDxRimini announcements coincide with negative level shifts (context-dependent).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2943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Power limited: only 3 separable pairs; interpret Wilcoxon descriptively.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623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All counterfactual PIs wide due to heavy-tailed volume (max=6,633 comments/day).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Ali/outputs/virality/virality_summary.md  |  Counterfactual plots: fig_ann_*.png, fig_occ_*.png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Modeling — Technical Reference</dc:title>
  <dc:subject>PptxGenJS Presentation</dc:subject>
  <dc:creator>PptxGenJS</dc:creator>
  <cp:lastModifiedBy>PptxGenJS</cp:lastModifiedBy>
  <cp:revision>1</cp:revision>
  <dcterms:created xsi:type="dcterms:W3CDTF">2026-06-14T21:23:40Z</dcterms:created>
  <dcterms:modified xsi:type="dcterms:W3CDTF">2026-06-14T21:23:40Z</dcterms:modified>
</cp:coreProperties>
</file>